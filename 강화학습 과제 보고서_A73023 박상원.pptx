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embeddedFontLst>
    <p:embeddedFont>
      <p:font typeface="Malgun Gothic" panose="020B0503020000020004" pitchFamily="34" charset="-127"/>
      <p:regular r:id="rId15"/>
      <p:bold r:id="rId16"/>
    </p:embeddedFont>
    <p:embeddedFont>
      <p:font typeface="Malgun Gothic" panose="020B0503020000020004" pitchFamily="34" charset="-127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0081E3"/>
    <a:srgbClr val="F2739E"/>
    <a:srgbClr val="806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558" autoAdjust="0"/>
  </p:normalViewPr>
  <p:slideViewPr>
    <p:cSldViewPr>
      <p:cViewPr>
        <p:scale>
          <a:sx n="120" d="100"/>
          <a:sy n="120" d="100"/>
        </p:scale>
        <p:origin x="35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94B52-E9E1-6742-A9B5-04DA17F14B9D}" type="datetimeFigureOut">
              <a:rPr kumimoji="1" lang="ko-KR" altLang="en-US" smtClean="0"/>
              <a:t>2025. 12. 6.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08AB3-814C-6C47-9D34-FD36A84A96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266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019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9276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8962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2741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9016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1711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0314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00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7608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08AB3-814C-6C47-9D34-FD36A84A962B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239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gi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>
            <a:alphaModFix amt="32000"/>
          </a:blip>
          <a:srcRect l="2804" t="-4318" r="1101" b="24791"/>
          <a:stretch/>
        </p:blipFill>
        <p:spPr>
          <a:xfrm>
            <a:off x="0" y="-393700"/>
            <a:ext cx="12192000" cy="725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374735"/>
            <a:ext cx="9296400" cy="12360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 b="32520"/>
          <a:stretch/>
        </p:blipFill>
        <p:spPr>
          <a:xfrm>
            <a:off x="3759200" y="3695700"/>
            <a:ext cx="4686300" cy="3162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9900" y="332418"/>
            <a:ext cx="8724900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7940"/>
              </a:lnSpc>
            </a:pPr>
            <a:r>
              <a:rPr lang="en-US" sz="4000" b="1" dirty="0">
                <a:solidFill>
                  <a:srgbClr val="FFFFFF"/>
                </a:solidFill>
                <a:latin typeface="+mj-ea"/>
                <a:ea typeface="+mj-ea"/>
              </a:rPr>
              <a:t>Reinforcement Learning for Continuous Space Control: </a:t>
            </a:r>
          </a:p>
          <a:p>
            <a:pPr lvl="0" algn="ctr">
              <a:lnSpc>
                <a:spcPct val="97940"/>
              </a:lnSpc>
            </a:pPr>
            <a:r>
              <a:rPr lang="en-US" sz="4000" b="1" dirty="0">
                <a:solidFill>
                  <a:srgbClr val="FFFFFF"/>
                </a:solidFill>
                <a:latin typeface="+mj-ea"/>
                <a:ea typeface="+mj-ea"/>
              </a:rPr>
              <a:t>Case Study on </a:t>
            </a:r>
            <a:r>
              <a:rPr lang="en-US" sz="4000" b="1" dirty="0" err="1">
                <a:solidFill>
                  <a:srgbClr val="FFFFFF"/>
                </a:solidFill>
                <a:latin typeface="+mj-ea"/>
                <a:ea typeface="+mj-ea"/>
              </a:rPr>
              <a:t>LunarLander</a:t>
            </a:r>
            <a:endParaRPr lang="en-US" sz="40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9900" y="2594490"/>
            <a:ext cx="88646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4580"/>
              </a:lnSpc>
            </a:pPr>
            <a:r>
              <a:rPr lang="en-US" sz="2400" b="1" spc="100" dirty="0">
                <a:solidFill>
                  <a:srgbClr val="FFFFFF"/>
                </a:solidFill>
                <a:latin typeface="+mj-ea"/>
                <a:ea typeface="+mj-ea"/>
              </a:rPr>
              <a:t>A73023 </a:t>
            </a:r>
            <a:r>
              <a:rPr lang="ko-KR" altLang="en-US" sz="2400" b="1" spc="100" dirty="0">
                <a:solidFill>
                  <a:srgbClr val="FFFFFF"/>
                </a:solidFill>
                <a:latin typeface="+mj-ea"/>
                <a:ea typeface="+mj-ea"/>
                <a:cs typeface="KOPUBWORLDDOTUM MEDIUM" pitchFamily="2" charset="-127"/>
              </a:rPr>
              <a:t>박상원</a:t>
            </a:r>
            <a:endParaRPr lang="en-US" altLang="ko-KR" sz="2400" b="1" spc="100" dirty="0">
              <a:solidFill>
                <a:srgbClr val="FFFFFF"/>
              </a:solidFill>
              <a:latin typeface="+mj-ea"/>
              <a:ea typeface="+mj-ea"/>
              <a:cs typeface="KOPUBWORLDDOTUM MEDIUM" pitchFamily="2" charset="-127"/>
            </a:endParaRPr>
          </a:p>
          <a:p>
            <a:pPr lvl="0" algn="ctr">
              <a:lnSpc>
                <a:spcPct val="104580"/>
              </a:lnSpc>
            </a:pPr>
            <a:r>
              <a:rPr lang="en-US" sz="2400" b="1" spc="100" dirty="0" err="1">
                <a:solidFill>
                  <a:srgbClr val="FFFFFF"/>
                </a:solidFill>
                <a:latin typeface="+mj-ea"/>
                <a:ea typeface="+mj-ea"/>
                <a:cs typeface="KOPUBWORLDDOTUM MEDIUM" pitchFamily="2" charset="-127"/>
              </a:rPr>
              <a:t>github.com</a:t>
            </a:r>
            <a:r>
              <a:rPr lang="en-US" sz="2400" b="1" spc="100" dirty="0">
                <a:solidFill>
                  <a:srgbClr val="FFFFFF"/>
                </a:solidFill>
                <a:latin typeface="+mj-ea"/>
                <a:ea typeface="+mj-ea"/>
                <a:cs typeface="KOPUBWORLDDOTUM MEDIUM" pitchFamily="2" charset="-127"/>
              </a:rPr>
              <a:t>/psw3848/RL_LunarLander_Project_A73023</a:t>
            </a:r>
            <a:endParaRPr lang="en-US" sz="2400" b="1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BEAFF11-8CDD-514C-B18E-1D73D45D66F4}"/>
              </a:ext>
            </a:extLst>
          </p:cNvPr>
          <p:cNvGrpSpPr/>
          <p:nvPr/>
        </p:nvGrpSpPr>
        <p:grpSpPr>
          <a:xfrm rot="1358366">
            <a:off x="9702799" y="3404920"/>
            <a:ext cx="1524000" cy="3128876"/>
            <a:chOff x="8838954" y="4247920"/>
            <a:chExt cx="1230861" cy="2282653"/>
          </a:xfrm>
        </p:grpSpPr>
        <p:sp>
          <p:nvSpPr>
            <p:cNvPr id="9" name="사다리꼴[T] 8">
              <a:extLst>
                <a:ext uri="{FF2B5EF4-FFF2-40B4-BE49-F238E27FC236}">
                  <a16:creationId xmlns:a16="http://schemas.microsoft.com/office/drawing/2014/main" id="{BB6795AA-9C85-754B-9592-91EF0A45E7EE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DB627E8-8E90-7E45-8E5F-4E0A9E6F6918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A4AB1AE-875F-E548-BB4D-5E1FF8908FF8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FDA3F56-83C5-0341-86C7-DC2BB78DD5E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3BBCD4D-F3E5-DA49-89E7-CD79F8A7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8D63077-FC85-6847-B4AD-9ACE6F92B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D31B0A5-5475-5142-8CCF-0BD218B25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4E63BF4-64CD-C04F-9D03-2AAB627FF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498D125-1C34-C645-BF1F-8CD914F3B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1.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Objectives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917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1.1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연구목표</a:t>
            </a:r>
            <a:endParaRPr lang="en-US" altLang="ko-KR" sz="2000" spc="100" dirty="0">
              <a:solidFill>
                <a:srgbClr val="FFFFFF"/>
              </a:solidFill>
              <a:latin typeface="+mj-ea"/>
              <a:ea typeface="+mj-ea"/>
            </a:endParaRPr>
          </a:p>
          <a:p>
            <a:pPr lvl="0">
              <a:lnSpc>
                <a:spcPct val="104580"/>
              </a:lnSpc>
            </a:pP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2261DEA-ACCD-3D47-A4B6-E38DD375CC1F}"/>
              </a:ext>
            </a:extLst>
          </p:cNvPr>
          <p:cNvSpPr txBox="1"/>
          <p:nvPr/>
        </p:nvSpPr>
        <p:spPr>
          <a:xfrm>
            <a:off x="266700" y="1193799"/>
            <a:ext cx="11658600" cy="483271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Precision Landing (</a:t>
            </a:r>
            <a:r>
              <a:rPr lang="ko-KR" altLang="en-US" sz="2000" b="1" spc="100" dirty="0">
                <a:solidFill>
                  <a:srgbClr val="FFFFFF"/>
                </a:solidFill>
                <a:latin typeface="+mn-ea"/>
              </a:rPr>
              <a:t>정밀 착륙</a:t>
            </a: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)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-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불확실한 초기 위치 및 속도 조건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Random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 Initial State)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에서 에이전트를 제어하여 목표 지점인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Landing Pad (0, 0)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좌표에 정확히 도달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Safe &amp; Stable Control (</a:t>
            </a:r>
            <a:r>
              <a:rPr lang="ko-KR" altLang="en-US" sz="2000" b="1" spc="100" dirty="0">
                <a:solidFill>
                  <a:srgbClr val="FFFFFF"/>
                </a:solidFill>
                <a:latin typeface="+mn-ea"/>
              </a:rPr>
              <a:t>안전성 및 안정성</a:t>
            </a: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)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Landing Conditions: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지면 접촉 시 속도를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0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에 수렴시키고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기체 기울기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(Tilt)</a:t>
            </a:r>
            <a:r>
              <a:rPr lang="ko-KR" altLang="en-US" sz="2000" spc="100" dirty="0" err="1">
                <a:solidFill>
                  <a:srgbClr val="FFFFFF"/>
                </a:solidFill>
                <a:latin typeface="+mn-ea"/>
              </a:rPr>
              <a:t>를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수평으로 유지하여 충격을 최소화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(Crash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방지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)</a:t>
            </a:r>
          </a:p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-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양쪽 다리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(Legs)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가 지면에 모두 닿은 상태로 정지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(Resting)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하는 것을 최종 성공 기준으로 정의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Energy Efficiency Optimization (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에너지 효율 최적화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)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메인 엔진 및 사이드 엔진 사용에 따른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Negative 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Reward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Penalty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altLang="en-US" sz="2000" spc="100" dirty="0" err="1">
                <a:solidFill>
                  <a:srgbClr val="FFFFFF"/>
                </a:solidFill>
                <a:latin typeface="+mn-ea"/>
              </a:rPr>
              <a:t>를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최소화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불필요한 </a:t>
            </a:r>
            <a:r>
              <a:rPr lang="ko-KR" altLang="en-US" sz="2000" spc="100" dirty="0" err="1">
                <a:solidFill>
                  <a:srgbClr val="FFFFFF"/>
                </a:solidFill>
                <a:latin typeface="+mn-ea"/>
              </a:rPr>
              <a:t>호버링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Hovering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이나 과도한 움직임을 줄여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"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최소 연료로 최단 시간 내 착륙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"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하는 최적 정책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Optimal Policy)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학습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lvl="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050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2. Technical Challenges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917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2.1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기술적 난제</a:t>
            </a:r>
            <a:endParaRPr lang="en-US" altLang="ko-KR" sz="2000" spc="100" dirty="0">
              <a:solidFill>
                <a:srgbClr val="FFFFFF"/>
              </a:solidFill>
              <a:latin typeface="+mj-ea"/>
              <a:ea typeface="+mj-ea"/>
            </a:endParaRPr>
          </a:p>
          <a:p>
            <a:pPr lvl="0">
              <a:lnSpc>
                <a:spcPct val="104580"/>
              </a:lnSpc>
            </a:pP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2261DEA-ACCD-3D47-A4B6-E38DD375CC1F}"/>
              </a:ext>
            </a:extLst>
          </p:cNvPr>
          <p:cNvSpPr txBox="1"/>
          <p:nvPr/>
        </p:nvSpPr>
        <p:spPr>
          <a:xfrm>
            <a:off x="266700" y="1193799"/>
            <a:ext cx="11658600" cy="483271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b="1" spc="100" dirty="0">
                <a:solidFill>
                  <a:srgbClr val="FFC000"/>
                </a:solidFill>
                <a:latin typeface="+mn-ea"/>
              </a:rPr>
              <a:t>Continuous Action Space</a:t>
            </a:r>
            <a:endParaRPr lang="en-US" altLang="ko-KR" sz="2000" spc="100" dirty="0">
              <a:solidFill>
                <a:srgbClr val="FFC000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엔진의 추력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Thrust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이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0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또는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1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의 이산적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Discrete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값이 아닌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[-1, 1]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사이의 연속적인 실수 값으로 </a:t>
            </a:r>
            <a:r>
              <a:rPr lang="ko-KR" altLang="en-US" sz="2000" spc="100" dirty="0" err="1">
                <a:solidFill>
                  <a:srgbClr val="FFFFFF"/>
                </a:solidFill>
                <a:latin typeface="+mn-ea"/>
              </a:rPr>
              <a:t>제어되어야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함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미세한 추력 조절이 요구되므로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DQN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과 같은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Value-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based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알고리즘보다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PPO, SAC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와 같은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Policy Gradient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기반 알고리즘이 필수적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Complex Physics Dynamics</a:t>
            </a:r>
          </a:p>
          <a:p>
            <a:pPr>
              <a:lnSpc>
                <a:spcPct val="104580"/>
              </a:lnSpc>
            </a:pP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-</a:t>
            </a:r>
            <a:r>
              <a:rPr lang="ko-KR" altLang="en-US" sz="2000" b="1" spc="100" dirty="0">
                <a:solidFill>
                  <a:srgbClr val="FFFFFF"/>
                </a:solidFill>
                <a:latin typeface="+mn-ea"/>
              </a:rPr>
              <a:t>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중력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관성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마찰력이 작용하는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Box2D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물리 엔진 환경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-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현재의 행동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(Action)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이 즉각적인 위치 변화뿐만 아니라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미래의 가속도와 자세에 영향을 미치는 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Delayed Reward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문제 존재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r>
              <a:rPr lang="en-US" altLang="ko-KR" sz="2000" b="1" spc="100" dirty="0">
                <a:solidFill>
                  <a:srgbClr val="FFFFFF"/>
                </a:solidFill>
                <a:latin typeface="+mn-ea"/>
              </a:rPr>
              <a:t>Exploration vs. Exploitation Trade-off</a:t>
            </a:r>
          </a:p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-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메인 엔진 및 착륙 성공 보상을 얻기 위해서는 과감한 탐험이 필요하지만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탐험 과정에서 발생하는 과도한 연료 소모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Penalty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가 학습 저해 요소로 작용할 수 있음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-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안전성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Safety)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과 효율성</a:t>
            </a:r>
            <a:r>
              <a:rPr lang="en-US" altLang="ko-KR" sz="2000" spc="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Efficiency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) 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사이의 </a:t>
            </a:r>
            <a:r>
              <a:rPr lang="da-DK" altLang="ko-KR" sz="2000" spc="100" dirty="0">
                <a:solidFill>
                  <a:srgbClr val="FFFFFF"/>
                </a:solidFill>
                <a:latin typeface="+mn-ea"/>
              </a:rPr>
              <a:t>Trade-</a:t>
            </a:r>
            <a:r>
              <a:rPr lang="da-DK" altLang="ko-KR" sz="2000" spc="100" dirty="0" err="1">
                <a:solidFill>
                  <a:srgbClr val="FFFFFF"/>
                </a:solidFill>
                <a:latin typeface="+mn-ea"/>
              </a:rPr>
              <a:t>off</a:t>
            </a:r>
            <a:r>
              <a:rPr lang="ko-KR" altLang="en-US" sz="2000" spc="100" dirty="0" err="1">
                <a:solidFill>
                  <a:srgbClr val="FFFFFF"/>
                </a:solidFill>
                <a:latin typeface="+mn-ea"/>
              </a:rPr>
              <a:t>를</a:t>
            </a:r>
            <a:r>
              <a:rPr lang="ko-KR" altLang="en-US" sz="2000" spc="100" dirty="0">
                <a:solidFill>
                  <a:srgbClr val="FFFFFF"/>
                </a:solidFill>
                <a:latin typeface="+mn-ea"/>
              </a:rPr>
              <a:t> 찾는 것이 핵심 과제</a:t>
            </a: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  <a:p>
            <a:pPr marL="342900" lvl="0" indent="-342900">
              <a:lnSpc>
                <a:spcPct val="104580"/>
              </a:lnSpc>
              <a:buFont typeface="Arial" panose="020B0604020202020204" pitchFamily="34" charset="0"/>
              <a:buChar char="•"/>
            </a:pPr>
            <a:endParaRPr lang="en-US" altLang="ko-KR" sz="2000" spc="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740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3.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ko-KR" sz="2800" b="1" dirty="0" err="1">
                <a:solidFill>
                  <a:srgbClr val="FFFFFF"/>
                </a:solidFill>
                <a:latin typeface="+mn-ea"/>
              </a:rPr>
              <a:t>Enviorment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3.1 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환경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E5FF31E-E43A-0141-AE71-9DC7DFB69134}"/>
              </a:ext>
            </a:extLst>
          </p:cNvPr>
          <p:cNvGrpSpPr/>
          <p:nvPr/>
        </p:nvGrpSpPr>
        <p:grpSpPr>
          <a:xfrm>
            <a:off x="0" y="0"/>
            <a:ext cx="12573000" cy="7020274"/>
            <a:chOff x="-3162121" y="0"/>
            <a:chExt cx="12573000" cy="7020274"/>
          </a:xfrm>
        </p:grpSpPr>
        <p:cxnSp>
          <p:nvCxnSpPr>
            <p:cNvPr id="29" name="직선 연결선[R] 28">
              <a:extLst>
                <a:ext uri="{FF2B5EF4-FFF2-40B4-BE49-F238E27FC236}">
                  <a16:creationId xmlns:a16="http://schemas.microsoft.com/office/drawing/2014/main" id="{42B5C208-111F-A34E-AD25-6257F92BA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1751" y="0"/>
              <a:ext cx="24609" cy="7020274"/>
            </a:xfrm>
            <a:prstGeom prst="line">
              <a:avLst/>
            </a:prstGeom>
            <a:ln w="3492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2DB97EC-13B9-D945-94D9-DBF55E8D8B7C}"/>
                </a:ext>
              </a:extLst>
            </p:cNvPr>
            <p:cNvGrpSpPr/>
            <p:nvPr/>
          </p:nvGrpSpPr>
          <p:grpSpPr>
            <a:xfrm>
              <a:off x="-3162121" y="1667512"/>
              <a:ext cx="12573000" cy="5091380"/>
              <a:chOff x="-3162121" y="1667512"/>
              <a:chExt cx="12573000" cy="5091380"/>
            </a:xfrm>
          </p:grpSpPr>
          <p:cxnSp>
            <p:nvCxnSpPr>
              <p:cNvPr id="3" name="직선 연결선[R] 2">
                <a:extLst>
                  <a:ext uri="{FF2B5EF4-FFF2-40B4-BE49-F238E27FC236}">
                    <a16:creationId xmlns:a16="http://schemas.microsoft.com/office/drawing/2014/main" id="{6F9BA4B3-D0D6-E24A-9851-14F0DD87C7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162121" y="3389925"/>
                <a:ext cx="12573000" cy="12986"/>
              </a:xfrm>
              <a:prstGeom prst="line">
                <a:avLst/>
              </a:prstGeom>
              <a:ln w="34925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BF0CBD4-2EC7-4D41-BA61-80C0E6720F4A}"/>
                  </a:ext>
                </a:extLst>
              </p:cNvPr>
              <p:cNvGrpSpPr/>
              <p:nvPr/>
            </p:nvGrpSpPr>
            <p:grpSpPr>
              <a:xfrm>
                <a:off x="1934517" y="2947238"/>
                <a:ext cx="2029050" cy="3811654"/>
                <a:chOff x="8838954" y="4247920"/>
                <a:chExt cx="1230861" cy="2282653"/>
              </a:xfrm>
            </p:grpSpPr>
            <p:sp>
              <p:nvSpPr>
                <p:cNvPr id="20" name="사다리꼴[T] 19">
                  <a:extLst>
                    <a:ext uri="{FF2B5EF4-FFF2-40B4-BE49-F238E27FC236}">
                      <a16:creationId xmlns:a16="http://schemas.microsoft.com/office/drawing/2014/main" id="{760FF1A5-43B1-4B43-BCF6-85316660E53D}"/>
                    </a:ext>
                  </a:extLst>
                </p:cNvPr>
                <p:cNvSpPr/>
                <p:nvPr/>
              </p:nvSpPr>
              <p:spPr>
                <a:xfrm>
                  <a:off x="9049744" y="4247920"/>
                  <a:ext cx="823511" cy="552680"/>
                </a:xfrm>
                <a:prstGeom prst="trapezoid">
                  <a:avLst/>
                </a:prstGeom>
                <a:solidFill>
                  <a:srgbClr val="8067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dirty="0"/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D8411240-7FD0-D341-BE98-209AD272D126}"/>
                    </a:ext>
                  </a:extLst>
                </p:cNvPr>
                <p:cNvSpPr/>
                <p:nvPr/>
              </p:nvSpPr>
              <p:spPr>
                <a:xfrm rot="20463042">
                  <a:off x="9993615" y="4633739"/>
                  <a:ext cx="76200" cy="466840"/>
                </a:xfrm>
                <a:prstGeom prst="rect">
                  <a:avLst/>
                </a:prstGeom>
                <a:solidFill>
                  <a:srgbClr val="8067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5870C71B-A01B-3E4A-A1C3-AA212C43D384}"/>
                    </a:ext>
                  </a:extLst>
                </p:cNvPr>
                <p:cNvSpPr/>
                <p:nvPr/>
              </p:nvSpPr>
              <p:spPr>
                <a:xfrm rot="1376338">
                  <a:off x="8838954" y="4647921"/>
                  <a:ext cx="76200" cy="466840"/>
                </a:xfrm>
                <a:prstGeom prst="rect">
                  <a:avLst/>
                </a:prstGeom>
                <a:solidFill>
                  <a:srgbClr val="8067E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12596349-5A50-3440-80DC-43886B151360}"/>
                    </a:ext>
                  </a:extLst>
                </p:cNvPr>
                <p:cNvSpPr/>
                <p:nvPr/>
              </p:nvSpPr>
              <p:spPr>
                <a:xfrm>
                  <a:off x="9321801" y="5100301"/>
                  <a:ext cx="50888" cy="49319"/>
                </a:xfrm>
                <a:prstGeom prst="ellipse">
                  <a:avLst/>
                </a:prstGeom>
                <a:solidFill>
                  <a:srgbClr val="F2739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  <p:pic>
              <p:nvPicPr>
                <p:cNvPr id="24" name="그림 23">
                  <a:extLst>
                    <a:ext uri="{FF2B5EF4-FFF2-40B4-BE49-F238E27FC236}">
                      <a16:creationId xmlns:a16="http://schemas.microsoft.com/office/drawing/2014/main" id="{B6E01D5E-3E57-AB46-A3E8-59F1E1CC7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7068089" flipH="1">
                  <a:off x="9236816" y="5483673"/>
                  <a:ext cx="58086" cy="72607"/>
                </a:xfrm>
                <a:prstGeom prst="rect">
                  <a:avLst/>
                </a:prstGeom>
              </p:spPr>
            </p:pic>
            <p:pic>
              <p:nvPicPr>
                <p:cNvPr id="25" name="그림 24">
                  <a:extLst>
                    <a:ext uri="{FF2B5EF4-FFF2-40B4-BE49-F238E27FC236}">
                      <a16:creationId xmlns:a16="http://schemas.microsoft.com/office/drawing/2014/main" id="{81A5C833-6946-844C-9401-8F1AC6F500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7068089" flipH="1">
                  <a:off x="9450298" y="5788473"/>
                  <a:ext cx="58086" cy="72607"/>
                </a:xfrm>
                <a:prstGeom prst="rect">
                  <a:avLst/>
                </a:prstGeom>
              </p:spPr>
            </p:pic>
            <p:pic>
              <p:nvPicPr>
                <p:cNvPr id="26" name="그림 25">
                  <a:extLst>
                    <a:ext uri="{FF2B5EF4-FFF2-40B4-BE49-F238E27FC236}">
                      <a16:creationId xmlns:a16="http://schemas.microsoft.com/office/drawing/2014/main" id="{48691D6F-53D8-8345-98FF-FD5A76D4C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7068089" flipH="1">
                  <a:off x="9602698" y="6026120"/>
                  <a:ext cx="58086" cy="72607"/>
                </a:xfrm>
                <a:prstGeom prst="rect">
                  <a:avLst/>
                </a:prstGeom>
              </p:spPr>
            </p:pic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id="{C529547D-8EF8-F54A-A353-05F7BA8F47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7068089" flipH="1">
                  <a:off x="9770216" y="6245673"/>
                  <a:ext cx="58086" cy="72607"/>
                </a:xfrm>
                <a:prstGeom prst="rect">
                  <a:avLst/>
                </a:prstGeom>
              </p:spPr>
            </p:pic>
            <p:pic>
              <p:nvPicPr>
                <p:cNvPr id="28" name="그림 27">
                  <a:extLst>
                    <a:ext uri="{FF2B5EF4-FFF2-40B4-BE49-F238E27FC236}">
                      <a16:creationId xmlns:a16="http://schemas.microsoft.com/office/drawing/2014/main" id="{0C29ADCE-264B-BC4C-B7DD-B5C97EE238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7068089" flipH="1">
                  <a:off x="9937734" y="6465226"/>
                  <a:ext cx="58086" cy="72607"/>
                </a:xfrm>
                <a:prstGeom prst="rect">
                  <a:avLst/>
                </a:prstGeom>
              </p:spPr>
            </p:pic>
          </p:grpSp>
          <p:sp>
            <p:nvSpPr>
              <p:cNvPr id="35" name="TextBox 6">
                <a:extLst>
                  <a:ext uri="{FF2B5EF4-FFF2-40B4-BE49-F238E27FC236}">
                    <a16:creationId xmlns:a16="http://schemas.microsoft.com/office/drawing/2014/main" id="{EED3A9FA-17B9-5B49-BE7D-83284FD0598C}"/>
                  </a:ext>
                </a:extLst>
              </p:cNvPr>
              <p:cNvSpPr txBox="1"/>
              <p:nvPr/>
            </p:nvSpPr>
            <p:spPr>
              <a:xfrm>
                <a:off x="3517561" y="2689678"/>
                <a:ext cx="2130148" cy="21965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>
                  <a:lnSpc>
                    <a:spcPct val="104580"/>
                  </a:lnSpc>
                </a:pPr>
                <a:r>
                  <a:rPr lang="en-US" sz="1400" b="1" i="0" u="none" strike="noStrike" spc="100" dirty="0" err="1">
                    <a:solidFill>
                      <a:srgbClr val="FF0000"/>
                    </a:solidFill>
                    <a:latin typeface="+mj-ea"/>
                    <a:ea typeface="+mj-ea"/>
                  </a:rPr>
                  <a:t>State:Velocity</a:t>
                </a:r>
                <a:r>
                  <a:rPr lang="en-US" sz="1400" b="1" i="0" u="none" strike="noStrike" spc="100" dirty="0">
                    <a:solidFill>
                      <a:srgbClr val="FF0000"/>
                    </a:solidFill>
                    <a:latin typeface="+mj-ea"/>
                    <a:ea typeface="+mj-ea"/>
                  </a:rPr>
                  <a:t>(</a:t>
                </a:r>
                <a:r>
                  <a:rPr lang="en-US" sz="1400" b="1" i="0" u="none" strike="noStrike" spc="100" dirty="0" err="1">
                    <a:solidFill>
                      <a:srgbClr val="FF0000"/>
                    </a:solidFill>
                    <a:latin typeface="+mj-ea"/>
                    <a:ea typeface="+mj-ea"/>
                  </a:rPr>
                  <a:t>V</a:t>
                </a:r>
                <a:r>
                  <a:rPr lang="en-US" sz="1400" u="none" strike="noStrike" spc="100" dirty="0" err="1">
                    <a:solidFill>
                      <a:srgbClr val="FF0000"/>
                    </a:solidFill>
                    <a:latin typeface="Malgun Gothic" panose="020B0503020000020004" pitchFamily="34" charset="-127"/>
                    <a:ea typeface="+mj-ea"/>
                    <a:cs typeface="Apple Chancery" panose="03020702040506060504" pitchFamily="66" charset="-79"/>
                  </a:rPr>
                  <a:t>x</a:t>
                </a:r>
                <a:r>
                  <a:rPr lang="en-US" sz="1400" b="1" i="0" u="none" strike="noStrike" spc="100" dirty="0" err="1">
                    <a:solidFill>
                      <a:srgbClr val="FF0000"/>
                    </a:solidFill>
                    <a:latin typeface="+mj-ea"/>
                    <a:ea typeface="+mj-ea"/>
                  </a:rPr>
                  <a:t>,V</a:t>
                </a:r>
                <a:r>
                  <a:rPr lang="en-US" sz="1400" spc="100" dirty="0" err="1">
                    <a:solidFill>
                      <a:srgbClr val="FF0000"/>
                    </a:solidFill>
                    <a:latin typeface="Malgun Gothic" panose="020B0503020000020004" pitchFamily="34" charset="-127"/>
                    <a:ea typeface="+mj-ea"/>
                    <a:cs typeface="Apple Chancery" panose="03020702040506060504" pitchFamily="66" charset="-79"/>
                  </a:rPr>
                  <a:t>y</a:t>
                </a:r>
                <a:r>
                  <a:rPr lang="en-US" sz="1400" b="1" i="0" u="none" strike="noStrike" spc="100" dirty="0">
                    <a:solidFill>
                      <a:srgbClr val="FF0000"/>
                    </a:solidFill>
                    <a:latin typeface="+mj-ea"/>
                    <a:ea typeface="+mj-ea"/>
                  </a:rPr>
                  <a:t>)</a:t>
                </a:r>
              </a:p>
            </p:txBody>
          </p:sp>
          <p:sp>
            <p:nvSpPr>
              <p:cNvPr id="36" name="TextBox 6">
                <a:extLst>
                  <a:ext uri="{FF2B5EF4-FFF2-40B4-BE49-F238E27FC236}">
                    <a16:creationId xmlns:a16="http://schemas.microsoft.com/office/drawing/2014/main" id="{358CE312-CF80-6240-A8CC-EF134E9672FB}"/>
                  </a:ext>
                </a:extLst>
              </p:cNvPr>
              <p:cNvSpPr txBox="1"/>
              <p:nvPr/>
            </p:nvSpPr>
            <p:spPr>
              <a:xfrm>
                <a:off x="4075710" y="1667512"/>
                <a:ext cx="2013331" cy="22494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>
                  <a:lnSpc>
                    <a:spcPct val="104580"/>
                  </a:lnSpc>
                </a:pPr>
                <a:r>
                  <a:rPr lang="en-US" sz="1400" b="1" i="0" u="none" strike="noStrike" spc="100" dirty="0">
                    <a:solidFill>
                      <a:srgbClr val="0081E3"/>
                    </a:solidFill>
                    <a:latin typeface="+mj-ea"/>
                    <a:ea typeface="+mj-ea"/>
                  </a:rPr>
                  <a:t>State: Position(</a:t>
                </a:r>
                <a:r>
                  <a:rPr lang="en-US" sz="1400" b="1" i="0" u="none" strike="noStrike" spc="100" dirty="0" err="1">
                    <a:solidFill>
                      <a:srgbClr val="0081E3"/>
                    </a:solidFill>
                    <a:latin typeface="+mj-ea"/>
                    <a:ea typeface="+mj-ea"/>
                  </a:rPr>
                  <a:t>x,y</a:t>
                </a:r>
                <a:r>
                  <a:rPr lang="en-US" sz="1400" b="1" i="0" u="none" strike="noStrike" spc="100" dirty="0">
                    <a:solidFill>
                      <a:srgbClr val="0081E3"/>
                    </a:solidFill>
                    <a:latin typeface="+mj-ea"/>
                    <a:ea typeface="+mj-ea"/>
                  </a:rPr>
                  <a:t>)</a:t>
                </a:r>
              </a:p>
            </p:txBody>
          </p: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310C05CC-BBB0-B24B-A03B-1028442E4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5854" y="2975660"/>
                <a:ext cx="1073439" cy="387014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6">
                <a:extLst>
                  <a:ext uri="{FF2B5EF4-FFF2-40B4-BE49-F238E27FC236}">
                    <a16:creationId xmlns:a16="http://schemas.microsoft.com/office/drawing/2014/main" id="{4087BEAD-EAC6-4A43-887C-F3A6B80E2EB6}"/>
                  </a:ext>
                </a:extLst>
              </p:cNvPr>
              <p:cNvSpPr txBox="1"/>
              <p:nvPr/>
            </p:nvSpPr>
            <p:spPr>
              <a:xfrm>
                <a:off x="114791" y="2504227"/>
                <a:ext cx="2533260" cy="275353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ctr">
                  <a:lnSpc>
                    <a:spcPct val="104580"/>
                  </a:lnSpc>
                </a:pPr>
                <a:r>
                  <a:rPr lang="en-US" sz="1400" b="1" i="0" u="none" strike="noStrike" spc="100" dirty="0">
                    <a:solidFill>
                      <a:srgbClr val="C00000"/>
                    </a:solidFill>
                    <a:latin typeface="+mj-ea"/>
                    <a:ea typeface="+mj-ea"/>
                  </a:rPr>
                  <a:t>Action2: Side Engines</a:t>
                </a:r>
              </a:p>
              <a:p>
                <a:pPr lvl="0" algn="ctr">
                  <a:lnSpc>
                    <a:spcPct val="104580"/>
                  </a:lnSpc>
                </a:pPr>
                <a:r>
                  <a:rPr lang="en-US" sz="1400" b="1" spc="100" dirty="0">
                    <a:solidFill>
                      <a:srgbClr val="C00000"/>
                    </a:solidFill>
                    <a:latin typeface="+mj-ea"/>
                    <a:ea typeface="+mj-ea"/>
                  </a:rPr>
                  <a:t>(-1 ~ +1)</a:t>
                </a:r>
                <a:endParaRPr lang="en-US" sz="1400" b="1" i="0" u="none" strike="noStrike" spc="100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오른쪽 화살표[R] 38">
                <a:extLst>
                  <a:ext uri="{FF2B5EF4-FFF2-40B4-BE49-F238E27FC236}">
                    <a16:creationId xmlns:a16="http://schemas.microsoft.com/office/drawing/2014/main" id="{7B320632-344B-7749-A1C7-DA658910040A}"/>
                  </a:ext>
                </a:extLst>
              </p:cNvPr>
              <p:cNvSpPr/>
              <p:nvPr/>
            </p:nvSpPr>
            <p:spPr>
              <a:xfrm rot="10800000">
                <a:off x="1682249" y="3082856"/>
                <a:ext cx="619145" cy="221771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8527E59F-9313-6740-BA6C-B5D06B93BFA6}"/>
                  </a:ext>
                </a:extLst>
              </p:cNvPr>
              <p:cNvSpPr txBox="1"/>
              <p:nvPr/>
            </p:nvSpPr>
            <p:spPr>
              <a:xfrm>
                <a:off x="1965134" y="4953381"/>
                <a:ext cx="2013331" cy="22494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ctr">
                  <a:lnSpc>
                    <a:spcPct val="104580"/>
                  </a:lnSpc>
                </a:pPr>
                <a:r>
                  <a:rPr lang="en-US" sz="1400" b="1" spc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Action1:</a:t>
                </a:r>
              </a:p>
              <a:p>
                <a:pPr lvl="0" algn="ctr">
                  <a:lnSpc>
                    <a:spcPct val="104580"/>
                  </a:lnSpc>
                </a:pPr>
                <a:r>
                  <a:rPr lang="en-US" sz="1400" b="1" i="0" u="none" strike="noStrike" spc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Main Engine</a:t>
                </a:r>
              </a:p>
              <a:p>
                <a:pPr lvl="0" algn="ctr">
                  <a:lnSpc>
                    <a:spcPct val="104580"/>
                  </a:lnSpc>
                </a:pPr>
                <a:r>
                  <a:rPr lang="en-US" sz="1400" b="1" spc="100" dirty="0">
                    <a:solidFill>
                      <a:srgbClr val="FFC000"/>
                    </a:solidFill>
                    <a:latin typeface="+mj-ea"/>
                    <a:ea typeface="+mj-ea"/>
                  </a:rPr>
                  <a:t>(-1 ~ +1)</a:t>
                </a:r>
                <a:endParaRPr lang="en-US" sz="1400" b="1" i="0" u="none" strike="noStrike" spc="100" dirty="0">
                  <a:solidFill>
                    <a:srgbClr val="FFC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번개[L] 45">
                <a:extLst>
                  <a:ext uri="{FF2B5EF4-FFF2-40B4-BE49-F238E27FC236}">
                    <a16:creationId xmlns:a16="http://schemas.microsoft.com/office/drawing/2014/main" id="{670167F6-0546-AE49-B3AE-8FB8A212E30C}"/>
                  </a:ext>
                </a:extLst>
              </p:cNvPr>
              <p:cNvSpPr/>
              <p:nvPr/>
            </p:nvSpPr>
            <p:spPr>
              <a:xfrm rot="2014850">
                <a:off x="2378247" y="3920948"/>
                <a:ext cx="533400" cy="929495"/>
              </a:xfrm>
              <a:prstGeom prst="lightningBol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8" name="번개[L] 47">
                <a:extLst>
                  <a:ext uri="{FF2B5EF4-FFF2-40B4-BE49-F238E27FC236}">
                    <a16:creationId xmlns:a16="http://schemas.microsoft.com/office/drawing/2014/main" id="{3A1BA171-DDC8-0640-A448-A0FE54240BBD}"/>
                  </a:ext>
                </a:extLst>
              </p:cNvPr>
              <p:cNvSpPr/>
              <p:nvPr/>
            </p:nvSpPr>
            <p:spPr>
              <a:xfrm rot="19730728" flipH="1">
                <a:off x="2908037" y="3934067"/>
                <a:ext cx="640907" cy="929495"/>
              </a:xfrm>
              <a:prstGeom prst="lightningBol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61" name="TextBox 6">
                <a:extLst>
                  <a:ext uri="{FF2B5EF4-FFF2-40B4-BE49-F238E27FC236}">
                    <a16:creationId xmlns:a16="http://schemas.microsoft.com/office/drawing/2014/main" id="{19A10C97-986D-6D48-8A41-7BC39CBC18A3}"/>
                  </a:ext>
                </a:extLst>
              </p:cNvPr>
              <p:cNvSpPr txBox="1"/>
              <p:nvPr/>
            </p:nvSpPr>
            <p:spPr>
              <a:xfrm>
                <a:off x="-761666" y="4339158"/>
                <a:ext cx="2013331" cy="22494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ctr">
                  <a:lnSpc>
                    <a:spcPct val="104580"/>
                  </a:lnSpc>
                </a:pPr>
                <a:r>
                  <a:rPr lang="en-US" sz="1400" b="1" i="0" u="none" strike="noStrike" spc="100" dirty="0">
                    <a:solidFill>
                      <a:srgbClr val="00FA00"/>
                    </a:solidFill>
                    <a:latin typeface="+mj-ea"/>
                    <a:ea typeface="+mj-ea"/>
                  </a:rPr>
                  <a:t>State : Leg Contact</a:t>
                </a:r>
              </a:p>
            </p:txBody>
          </p:sp>
        </p:grpSp>
      </p:grp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222F0755-45DD-AF45-8744-FCCF746B2AC2}"/>
              </a:ext>
            </a:extLst>
          </p:cNvPr>
          <p:cNvSpPr/>
          <p:nvPr/>
        </p:nvSpPr>
        <p:spPr>
          <a:xfrm>
            <a:off x="4592421" y="4348060"/>
            <a:ext cx="531957" cy="146605"/>
          </a:xfrm>
          <a:prstGeom prst="roundRect">
            <a:avLst/>
          </a:prstGeom>
          <a:solidFill>
            <a:srgbClr val="00F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FA00"/>
              </a:solidFill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43E1B6E0-2A3D-F147-A7BE-EF0DC1935B87}"/>
              </a:ext>
            </a:extLst>
          </p:cNvPr>
          <p:cNvSpPr/>
          <p:nvPr/>
        </p:nvSpPr>
        <p:spPr>
          <a:xfrm>
            <a:off x="6980527" y="4338449"/>
            <a:ext cx="531957" cy="146605"/>
          </a:xfrm>
          <a:prstGeom prst="roundRect">
            <a:avLst/>
          </a:prstGeom>
          <a:solidFill>
            <a:srgbClr val="00F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F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3.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ko-KR" sz="2800" b="1" dirty="0" err="1">
                <a:solidFill>
                  <a:srgbClr val="FFFFFF"/>
                </a:solidFill>
                <a:latin typeface="+mn-ea"/>
              </a:rPr>
              <a:t>Enviorment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3.2 MDP 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정의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2DA3358-2D41-9448-914E-34470FDE1607}"/>
              </a:ext>
            </a:extLst>
          </p:cNvPr>
          <p:cNvGrpSpPr/>
          <p:nvPr/>
        </p:nvGrpSpPr>
        <p:grpSpPr>
          <a:xfrm>
            <a:off x="309226" y="4529597"/>
            <a:ext cx="11847312" cy="1566403"/>
            <a:chOff x="50494" y="1029115"/>
            <a:chExt cx="6166498" cy="28567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6">
                  <a:extLst>
                    <a:ext uri="{FF2B5EF4-FFF2-40B4-BE49-F238E27FC236}">
                      <a16:creationId xmlns:a16="http://schemas.microsoft.com/office/drawing/2014/main" id="{93822426-970C-6346-8092-94EC54BDAFC0}"/>
                    </a:ext>
                  </a:extLst>
                </p:cNvPr>
                <p:cNvSpPr txBox="1"/>
                <p:nvPr/>
              </p:nvSpPr>
              <p:spPr>
                <a:xfrm>
                  <a:off x="540092" y="1914621"/>
                  <a:ext cx="5676900" cy="872048"/>
                </a:xfrm>
                <a:prstGeom prst="rect">
                  <a:avLst/>
                </a:prstGeom>
              </p:spPr>
              <p:txBody>
                <a:bodyPr lIns="0" tIns="0" rIns="0" bIns="0" rtlCol="0" anchor="t"/>
                <a:lstStyle/>
                <a:p>
                  <a:pPr>
                    <a:lnSpc>
                      <a:spcPct val="104580"/>
                    </a:lnSpc>
                  </a:pPr>
                  <a:r>
                    <a:rPr lang="da-DK" altLang="ko-KR" sz="2400" b="1" dirty="0">
                      <a:solidFill>
                        <a:schemeClr val="bg1"/>
                      </a:solidFill>
                    </a:rPr>
                    <a:t>Objective :</a:t>
                  </a:r>
                  <a:r>
                    <a:rPr lang="da-DK" altLang="ko-KR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da-DK" altLang="ko-KR" sz="2800" dirty="0" err="1">
                      <a:solidFill>
                        <a:schemeClr val="bg1"/>
                      </a:solidFill>
                    </a:rPr>
                    <a:t>Maximize</a:t>
                  </a:r>
                  <a:r>
                    <a:rPr lang="da-DK" altLang="ko-KR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da-DK" altLang="ko-KR" sz="2800" dirty="0" err="1">
                      <a:solidFill>
                        <a:schemeClr val="bg1"/>
                      </a:solidFill>
                    </a:rPr>
                    <a:t>Expected</a:t>
                  </a:r>
                  <a:r>
                    <a:rPr lang="da-DK" altLang="ko-KR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da-DK" altLang="ko-KR" sz="2800" dirty="0" err="1">
                      <a:solidFill>
                        <a:schemeClr val="bg1"/>
                      </a:solidFill>
                    </a:rPr>
                    <a:t>Cumulative</a:t>
                  </a:r>
                  <a:r>
                    <a:rPr lang="da-DK" altLang="ko-KR" sz="28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da-DK" altLang="ko-KR" sz="2800" dirty="0" err="1">
                      <a:solidFill>
                        <a:schemeClr val="bg1"/>
                      </a:solidFill>
                    </a:rPr>
                    <a:t>Reward</a:t>
                  </a:r>
                  <a:r>
                    <a:rPr lang="da-DK" altLang="ko-KR" sz="2800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a-DK" altLang="ko-K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</m:oMath>
                  </a14:m>
                  <a:r>
                    <a:rPr lang="da-DK" altLang="ko-KR" sz="2400" dirty="0">
                      <a:solidFill>
                        <a:schemeClr val="bg1"/>
                      </a:solidFill>
                    </a:rPr>
                    <a:t>[</a:t>
                  </a:r>
                  <a14:m>
                    <m:oMath xmlns:m="http://schemas.openxmlformats.org/officeDocument/2006/math">
                      <m:r>
                        <a:rPr lang="da-DK" altLang="ko-KR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  <m:sSup>
                        <m:sSupPr>
                          <m:ctrlPr>
                            <a:rPr lang="da-DK" altLang="ko-KR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altLang="ko-KR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da-DK" altLang="ko-KR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/>
                      </m:sSup>
                    </m:oMath>
                  </a14:m>
                  <a:endParaRPr lang="en-US" altLang="ko-KR" sz="280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mc:Choice>
          <mc:Fallback>
            <p:sp>
              <p:nvSpPr>
                <p:cNvPr id="41" name="TextBox 6">
                  <a:extLst>
                    <a:ext uri="{FF2B5EF4-FFF2-40B4-BE49-F238E27FC236}">
                      <a16:creationId xmlns:a16="http://schemas.microsoft.com/office/drawing/2014/main" id="{93822426-970C-6346-8092-94EC54BDA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92" y="1914621"/>
                  <a:ext cx="5676900" cy="872048"/>
                </a:xfrm>
                <a:prstGeom prst="rect">
                  <a:avLst/>
                </a:prstGeom>
                <a:blipFill>
                  <a:blip r:embed="rId5"/>
                  <a:stretch>
                    <a:fillRect l="-1744" t="-26316" b="-3157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AA5A3F92-A023-F446-AF05-669AA1209C6E}"/>
                </a:ext>
              </a:extLst>
            </p:cNvPr>
            <p:cNvSpPr/>
            <p:nvPr/>
          </p:nvSpPr>
          <p:spPr>
            <a:xfrm>
              <a:off x="50494" y="1029115"/>
              <a:ext cx="5562600" cy="285672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6">
                <a:extLst>
                  <a:ext uri="{FF2B5EF4-FFF2-40B4-BE49-F238E27FC236}">
                    <a16:creationId xmlns:a16="http://schemas.microsoft.com/office/drawing/2014/main" id="{6A1A60F1-B12C-DB4D-B5A0-3568A4A9F113}"/>
                  </a:ext>
                </a:extLst>
              </p:cNvPr>
              <p:cNvSpPr txBox="1"/>
              <p:nvPr/>
            </p:nvSpPr>
            <p:spPr>
              <a:xfrm>
                <a:off x="562319" y="1526633"/>
                <a:ext cx="5676900" cy="2082801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marL="457200" indent="-457200">
                  <a:lnSpc>
                    <a:spcPct val="104580"/>
                  </a:lnSpc>
                  <a:buAutoNum type="arabicParenR"/>
                </a:pPr>
                <a:r>
                  <a:rPr lang="en-US" altLang="ko-KR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State Space : 8-dim Observation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100" dirty="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000" b="0" i="1" spc="100" dirty="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pc="100" dirty="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𝑡</m:t>
                        </m:r>
                      </m:sub>
                    </m:sSub>
                    <m:r>
                      <a:rPr lang="en-US" altLang="ko-KR" sz="200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∈</m:t>
                    </m:r>
                    <m:sSup>
                      <m:sSupPr>
                        <m:ctrlPr>
                          <a:rPr lang="en-US" altLang="ko-KR" sz="200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</m:ctrlPr>
                      </m:sSupPr>
                      <m:e>
                        <m:r>
                          <a:rPr lang="en-US" altLang="ko-KR" sz="2000" i="1" spc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𝑠</m:t>
                        </m:r>
                      </m:sup>
                    </m:sSup>
                  </m:oMath>
                </a14:m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Coordinate : 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기체 위치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𝑥</m:t>
                    </m:r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,</m:t>
                    </m:r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𝑦</m:t>
                    </m:r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)</m:t>
                    </m:r>
                  </m:oMath>
                </a14:m>
                <a:endParaRPr lang="en-US" altLang="ko-KR" sz="2000" b="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Dynamics : 	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선형 속도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𝑥</m:t>
                        </m:r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altLang="ko-KR" sz="200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2000" i="1" spc="10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+mj-ea"/>
                            <a:ea typeface="+mj-ea"/>
                          </a:rPr>
                          <m:t>𝑦</m:t>
                        </m:r>
                      </m:sub>
                    </m:sSub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)</m:t>
                    </m:r>
                  </m:oMath>
                </a14:m>
                <a:endParaRPr lang="en-US" altLang="ko-KR" sz="2000" b="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Orientation : 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기체 각도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𝜃</m:t>
                    </m:r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)</m:t>
                    </m:r>
                  </m:oMath>
                </a14:m>
                <a:r>
                  <a: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,</a:t>
                </a:r>
                <a:r>
                  <a:rPr lang="ko-KR" altLang="en-US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 각속도</a:t>
                </a:r>
                <a:r>
                  <a: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0" i="1" spc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ko-KR" sz="2000" b="0" spc="100" dirty="0">
                    <a:solidFill>
                      <a:schemeClr val="bg1"/>
                    </a:solidFill>
                    <a:latin typeface="+mj-ea"/>
                    <a:ea typeface="Cambria Math" panose="02040503050406030204" pitchFamily="18" charset="0"/>
                  </a:rPr>
                  <a:t>)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Contact : </a:t>
                </a:r>
                <a:r>
                  <a:rPr lang="ko-KR" altLang="en-US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좌</a:t>
                </a:r>
                <a:r>
                  <a: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2000" b="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우 다리 접지 여부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0,</m:t>
                        </m:r>
                      </m:e>
                    </m:d>
                    <m:d>
                      <m:dPr>
                        <m:begChr m:val=""/>
                        <m:endChr m:val="}"/>
                        <m:ctrlP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ko-KR" sz="2000" b="0" i="1" spc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e>
                    </m:d>
                  </m:oMath>
                </a14:m>
                <a:endParaRPr lang="en-US" altLang="ko-KR" sz="2000" b="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endParaRPr lang="en-US" altLang="ko-KR" sz="2000" b="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49" name="TextBox 6">
                <a:extLst>
                  <a:ext uri="{FF2B5EF4-FFF2-40B4-BE49-F238E27FC236}">
                    <a16:creationId xmlns:a16="http://schemas.microsoft.com/office/drawing/2014/main" id="{6A1A60F1-B12C-DB4D-B5A0-3568A4A9F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19" y="1526633"/>
                <a:ext cx="5676900" cy="2082801"/>
              </a:xfrm>
              <a:prstGeom prst="rect">
                <a:avLst/>
              </a:prstGeom>
              <a:blipFill>
                <a:blip r:embed="rId6"/>
                <a:stretch>
                  <a:fillRect l="-3125" t="-6061" b="-3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084073DB-8E14-B14B-A76E-8FCB8D232477}"/>
              </a:ext>
            </a:extLst>
          </p:cNvPr>
          <p:cNvSpPr/>
          <p:nvPr/>
        </p:nvSpPr>
        <p:spPr>
          <a:xfrm>
            <a:off x="346113" y="1361949"/>
            <a:ext cx="5562600" cy="283481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D359B09-EE0E-B449-BD94-E3CD7F291AC2}"/>
              </a:ext>
            </a:extLst>
          </p:cNvPr>
          <p:cNvGrpSpPr/>
          <p:nvPr/>
        </p:nvGrpSpPr>
        <p:grpSpPr>
          <a:xfrm>
            <a:off x="6410899" y="1492435"/>
            <a:ext cx="5893106" cy="2856729"/>
            <a:chOff x="50494" y="1029115"/>
            <a:chExt cx="5893106" cy="28567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6">
                  <a:extLst>
                    <a:ext uri="{FF2B5EF4-FFF2-40B4-BE49-F238E27FC236}">
                      <a16:creationId xmlns:a16="http://schemas.microsoft.com/office/drawing/2014/main" id="{97A2A9E7-7930-544A-A725-100D92246104}"/>
                    </a:ext>
                  </a:extLst>
                </p:cNvPr>
                <p:cNvSpPr txBox="1"/>
                <p:nvPr/>
              </p:nvSpPr>
              <p:spPr>
                <a:xfrm>
                  <a:off x="266700" y="1193799"/>
                  <a:ext cx="5676900" cy="2082801"/>
                </a:xfrm>
                <a:prstGeom prst="rect">
                  <a:avLst/>
                </a:prstGeom>
              </p:spPr>
              <p:txBody>
                <a:bodyPr lIns="0" tIns="0" rIns="0" bIns="0" rtlCol="0" anchor="t"/>
                <a:lstStyle/>
                <a:p>
                  <a:pPr marL="457200" indent="-457200">
                    <a:lnSpc>
                      <a:spcPct val="104580"/>
                    </a:lnSpc>
                    <a:buAutoNum type="arabicParenR"/>
                  </a:pPr>
                  <a:r>
                    <a:rPr lang="en-US" altLang="ko-KR" sz="2000" b="1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Action</a:t>
                  </a:r>
                  <a:r>
                    <a:rPr lang="ko-KR" altLang="en-US" sz="2000" b="1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</a:t>
                  </a:r>
                  <a:r>
                    <a:rPr lang="en-US" altLang="ko-KR" sz="2000" b="1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Space</a:t>
                  </a:r>
                  <a14:m>
                    <m:oMath xmlns:m="http://schemas.openxmlformats.org/officeDocument/2006/math">
                      <m:r>
                        <a:rPr lang="en-US" altLang="ko-KR" sz="2000" b="1" i="0" spc="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spc="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</m:oMath>
                  </a14:m>
                  <a:r>
                    <a:rPr lang="en-US" altLang="ko-KR" sz="2000" b="1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)</a:t>
                  </a:r>
                </a:p>
                <a:p>
                  <a:pPr marL="342900" indent="-342900">
                    <a:lnSpc>
                      <a:spcPct val="104580"/>
                    </a:lnSpc>
                    <a:buFontTx/>
                    <a:buChar char="-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pc="100" dirty="0" smtClean="0">
                              <a:solidFill>
                                <a:schemeClr val="bg1"/>
                              </a:solidFill>
                              <a:latin typeface="+mj-ea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ko-KR" sz="2000" b="0" i="1" spc="10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b="0" i="1" spc="100" dirty="0" smtClean="0">
                              <a:solidFill>
                                <a:schemeClr val="bg1"/>
                              </a:solidFill>
                              <a:latin typeface="+mj-ea"/>
                              <a:ea typeface="+mj-ea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i="1" spc="1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m:t>∈</m:t>
                      </m:r>
                      <m:sSup>
                        <m:sSupPr>
                          <m:ctrlPr>
                            <a:rPr lang="en-US" altLang="ko-KR" sz="2000" i="1" spc="100" smtClean="0">
                              <a:solidFill>
                                <a:schemeClr val="bg1"/>
                              </a:solidFill>
                              <a:latin typeface="+mj-ea"/>
                              <a:ea typeface="+mj-ea"/>
                            </a:rPr>
                          </m:ctrlPr>
                        </m:sSupPr>
                        <m:e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[−1, 1]</m:t>
                          </m:r>
                        </m:e>
                        <m:sup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+mj-ea"/>
                              <a:ea typeface="+mj-ea"/>
                            </a:rPr>
                            <m:t>𝑠</m:t>
                          </m:r>
                        </m:sup>
                      </m:sSup>
                    </m:oMath>
                  </a14:m>
                  <a:endPara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342900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Main Engine(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𝑚𝑎𝑖𝑛</m:t>
                          </m:r>
                        </m:sub>
                      </m:sSub>
                      <m:r>
                        <a:rPr lang="en-US" altLang="ko-KR" sz="2000" b="0" i="0" spc="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</m:oMath>
                  </a14:m>
                  <a:endPara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800100" lvl="1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[0,1]: 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수직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추력 제어</a:t>
                  </a:r>
                  <a:endPara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800100" lvl="1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[-1,0]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: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엔진 끄기</a:t>
                  </a:r>
                  <a:endPara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342900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Main Engine(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2000" b="0" i="1" spc="1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𝑠𝑖𝑑𝑒</m:t>
                          </m:r>
                        </m:sub>
                      </m:sSub>
                      <m:r>
                        <a:rPr lang="en-US" altLang="ko-KR" sz="2000" b="0" i="0" spc="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</m:oMath>
                  </a14:m>
                  <a:endParaRPr lang="en-US" altLang="ko-KR" sz="2000" b="0" spc="1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342900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[-1, -0,5] 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우측 분사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(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좌회전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)</a:t>
                  </a:r>
                </a:p>
                <a:p>
                  <a:pPr marL="342900" indent="-342900">
                    <a:lnSpc>
                      <a:spcPct val="104580"/>
                    </a:lnSpc>
                    <a:buFontTx/>
                    <a:buChar char="-"/>
                  </a:pP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[0.5,1]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: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 좌측 분사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(</a:t>
                  </a:r>
                  <a:r>
                    <a:rPr lang="ko-KR" altLang="en-US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우회전</a:t>
                  </a:r>
                  <a:r>
                    <a:rPr lang="en-US" altLang="ko-KR" sz="2000" spc="1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53" name="TextBox 6">
                  <a:extLst>
                    <a:ext uri="{FF2B5EF4-FFF2-40B4-BE49-F238E27FC236}">
                      <a16:creationId xmlns:a16="http://schemas.microsoft.com/office/drawing/2014/main" id="{97A2A9E7-7930-544A-A725-100D92246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0" y="1193799"/>
                  <a:ext cx="5676900" cy="2082801"/>
                </a:xfrm>
                <a:prstGeom prst="rect">
                  <a:avLst/>
                </a:prstGeom>
                <a:blipFill>
                  <a:blip r:embed="rId7"/>
                  <a:stretch>
                    <a:fillRect l="-3125" t="-6061" b="-3030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36E1B24F-24A9-9E42-907B-34D4C791C2AA}"/>
                </a:ext>
              </a:extLst>
            </p:cNvPr>
            <p:cNvSpPr/>
            <p:nvPr/>
          </p:nvSpPr>
          <p:spPr>
            <a:xfrm>
              <a:off x="50494" y="1029115"/>
              <a:ext cx="5562600" cy="285672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008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4.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Algorithm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Experimental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Setup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4.1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알고리즘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D7381331-2127-AB43-8A6D-41BE83994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87277"/>
              </p:ext>
            </p:extLst>
          </p:nvPr>
        </p:nvGraphicFramePr>
        <p:xfrm>
          <a:off x="304800" y="1384889"/>
          <a:ext cx="11326488" cy="4040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496">
                  <a:extLst>
                    <a:ext uri="{9D8B030D-6E8A-4147-A177-3AD203B41FA5}">
                      <a16:colId xmlns:a16="http://schemas.microsoft.com/office/drawing/2014/main" val="3383605806"/>
                    </a:ext>
                  </a:extLst>
                </a:gridCol>
                <a:gridCol w="3775496">
                  <a:extLst>
                    <a:ext uri="{9D8B030D-6E8A-4147-A177-3AD203B41FA5}">
                      <a16:colId xmlns:a16="http://schemas.microsoft.com/office/drawing/2014/main" val="963037027"/>
                    </a:ext>
                  </a:extLst>
                </a:gridCol>
                <a:gridCol w="3775496">
                  <a:extLst>
                    <a:ext uri="{9D8B030D-6E8A-4147-A177-3AD203B41FA5}">
                      <a16:colId xmlns:a16="http://schemas.microsoft.com/office/drawing/2014/main" val="1912074293"/>
                    </a:ext>
                  </a:extLst>
                </a:gridCol>
              </a:tblGrid>
              <a:tr h="4439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알고리즘</a:t>
                      </a: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유형</a:t>
                      </a: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선정 이유</a:t>
                      </a: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49052"/>
                  </a:ext>
                </a:extLst>
              </a:tr>
              <a:tr h="12220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PPO (</a:t>
                      </a:r>
                      <a:r>
                        <a:rPr lang="da-DK" altLang="ko-KR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Proximal</a:t>
                      </a: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Policy </a:t>
                      </a:r>
                      <a:r>
                        <a:rPr lang="da-DK" altLang="ko-KR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Optimization</a:t>
                      </a: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On-policy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안정성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Stability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Clipped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Surrogate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  <a:r>
                        <a:rPr lang="ko-KR" alt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를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사용하여 급격한 정책 변화를 방지함</a:t>
                      </a:r>
                      <a:b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구현 용이성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하이퍼파라미터에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덜 민감하며 수렴이 </a:t>
                      </a:r>
                      <a:r>
                        <a:rPr lang="ko-KR" alt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안정적임</a:t>
                      </a:r>
                      <a:endParaRPr lang="en-US" altLang="ko-KR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3850"/>
                  </a:ext>
                </a:extLst>
              </a:tr>
              <a:tr h="12220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SAC (Soft </a:t>
                      </a:r>
                      <a:r>
                        <a:rPr lang="da-DK" altLang="ko-KR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Actor-Critic</a:t>
                      </a: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r>
                        <a:rPr lang="da-DK" altLang="ko-K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-policy</a:t>
                      </a: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샘플 효율성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Sample 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Efficiency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과거 데이터를 재사용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Replay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Buffer)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하여 학습 속도가 빠름</a:t>
                      </a:r>
                      <a:endParaRPr lang="en-US" altLang="ko-KR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탐색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Exploration):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Entropy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Regularization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을 통해 </a:t>
                      </a:r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Local Optima 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탈출에 유리함</a:t>
                      </a:r>
                      <a:endParaRPr lang="en-US" altLang="ko-KR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21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32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4.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Algorithm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Experimental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Setup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4.2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Experimental</a:t>
            </a:r>
            <a:r>
              <a:rPr lang="da-DK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 Environment &amp;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Metrics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BAF4E6E4-8C4D-7A4E-8EA3-6FA49FB03291}"/>
                  </a:ext>
                </a:extLst>
              </p:cNvPr>
              <p:cNvSpPr txBox="1"/>
              <p:nvPr/>
            </p:nvSpPr>
            <p:spPr>
              <a:xfrm>
                <a:off x="721295" y="1668541"/>
                <a:ext cx="5676900" cy="4569367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>
                  <a:lnSpc>
                    <a:spcPct val="104580"/>
                  </a:lnSpc>
                </a:pPr>
                <a:r>
                  <a:rPr lang="en-US" altLang="ko-KR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1. Implementation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Python3.10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Stable-Baselines3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Google </a:t>
                </a:r>
                <a:r>
                  <a:rPr lang="en-US" altLang="ko-KR" sz="2000" spc="100" dirty="0" err="1">
                    <a:solidFill>
                      <a:schemeClr val="bg1"/>
                    </a:solidFill>
                    <a:latin typeface="+mj-ea"/>
                    <a:ea typeface="+mj-ea"/>
                  </a:rPr>
                  <a:t>Colab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(T4 GPU)</a:t>
                </a:r>
              </a:p>
              <a:p>
                <a:pPr>
                  <a:lnSpc>
                    <a:spcPct val="104580"/>
                  </a:lnSpc>
                </a:pPr>
                <a:r>
                  <a:rPr lang="en-US" altLang="ko-KR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2. Evaluation Metric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Average Reward : 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최근 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100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에피소드의 이동 평균 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(Moving Average)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보상</a:t>
                </a: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Success Rate : 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착륙 패드 안착 및 속도 </a:t>
                </a:r>
                <a:r>
                  <a:rPr lang="ko-KR" altLang="en-US" sz="2000" spc="100" dirty="0" err="1">
                    <a:solidFill>
                      <a:schemeClr val="bg1"/>
                    </a:solidFill>
                    <a:latin typeface="+mj-ea"/>
                    <a:ea typeface="+mj-ea"/>
                  </a:rPr>
                  <a:t>수령여부</a:t>
                </a: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04580"/>
                  </a:lnSpc>
                </a:pPr>
                <a:r>
                  <a:rPr lang="en-US" altLang="ko-KR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3.</a:t>
                </a:r>
                <a:r>
                  <a:rPr lang="ko-KR" altLang="en-US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 </a:t>
                </a:r>
                <a:r>
                  <a:rPr lang="en-US" altLang="ko-KR" sz="2000" b="1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Hyperparameters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Discount Factor(</a:t>
                </a:r>
                <a14:m>
                  <m:oMath xmlns:m="http://schemas.openxmlformats.org/officeDocument/2006/math">
                    <m:r>
                      <a:rPr lang="el-GR" altLang="ko-KR" sz="2000" spc="10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𝛤</m:t>
                    </m:r>
                  </m:oMath>
                </a14:m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): 0.99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Learning Rate: 3e-4 (PPO/SAC </a:t>
                </a:r>
                <a:r>
                  <a:rPr lang="ko-KR" altLang="en-US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동일 적용</a:t>
                </a: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)</a:t>
                </a:r>
              </a:p>
              <a:p>
                <a:pPr marL="342900" indent="-342900">
                  <a:lnSpc>
                    <a:spcPct val="104580"/>
                  </a:lnSpc>
                  <a:buFontTx/>
                  <a:buChar char="-"/>
                </a:pPr>
                <a:r>
                  <a:rPr lang="en-US" altLang="ko-KR" sz="2000" spc="100" dirty="0">
                    <a:solidFill>
                      <a:schemeClr val="bg1"/>
                    </a:solidFill>
                    <a:latin typeface="+mj-ea"/>
                    <a:ea typeface="+mj-ea"/>
                  </a:rPr>
                  <a:t>Total Timesteps: 100,000 (Compare convergence speed)</a:t>
                </a:r>
              </a:p>
              <a:p>
                <a:pPr>
                  <a:lnSpc>
                    <a:spcPct val="104580"/>
                  </a:lnSpc>
                </a:pPr>
                <a:endParaRPr lang="en-US" altLang="ko-KR" sz="2000" spc="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BAF4E6E4-8C4D-7A4E-8EA3-6FA49FB03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95" y="1668541"/>
                <a:ext cx="5676900" cy="4569367"/>
              </a:xfrm>
              <a:prstGeom prst="rect">
                <a:avLst/>
              </a:prstGeom>
              <a:blipFill>
                <a:blip r:embed="rId5"/>
                <a:stretch>
                  <a:fillRect l="-2895" t="-1939" b="-8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AA86CD8-0B1A-814A-8D1E-4E89E86A61AD}"/>
              </a:ext>
            </a:extLst>
          </p:cNvPr>
          <p:cNvSpPr/>
          <p:nvPr/>
        </p:nvSpPr>
        <p:spPr>
          <a:xfrm>
            <a:off x="346112" y="1361949"/>
            <a:ext cx="5978487" cy="495789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4DCD7D-2704-7E4F-BDBD-C6B4DCE5C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782" y="1389597"/>
            <a:ext cx="4564257" cy="48483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02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5.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Experimental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Results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Analysis</a:t>
            </a:r>
          </a:p>
          <a:p>
            <a:pPr>
              <a:lnSpc>
                <a:spcPct val="97940"/>
              </a:lnSpc>
            </a:pP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5.1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da-DK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Learning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Curve</a:t>
            </a:r>
            <a:r>
              <a:rPr lang="da-DK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Visualization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8A800EA-9758-B340-A966-AD4676DD8068}"/>
              </a:ext>
            </a:extLst>
          </p:cNvPr>
          <p:cNvGrpSpPr/>
          <p:nvPr/>
        </p:nvGrpSpPr>
        <p:grpSpPr>
          <a:xfrm>
            <a:off x="913784" y="1409930"/>
            <a:ext cx="9892117" cy="5056702"/>
            <a:chOff x="4858945" y="1159419"/>
            <a:chExt cx="7160220" cy="7445368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42DCFD0-99CC-BB4A-92F8-65B05EA28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8945" y="1159419"/>
              <a:ext cx="7160220" cy="6882687"/>
            </a:xfrm>
            <a:prstGeom prst="rect">
              <a:avLst/>
            </a:prstGeom>
          </p:spPr>
        </p:pic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853009C4-197C-BE4E-9C46-08EFD6A6983A}"/>
                </a:ext>
              </a:extLst>
            </p:cNvPr>
            <p:cNvSpPr txBox="1"/>
            <p:nvPr/>
          </p:nvSpPr>
          <p:spPr>
            <a:xfrm>
              <a:off x="6433386" y="8260080"/>
              <a:ext cx="4011338" cy="3447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ct val="104580"/>
                </a:lnSpc>
              </a:pPr>
              <a:r>
                <a:rPr lang="en-US" altLang="ko-KR" sz="1200" spc="100" dirty="0">
                  <a:solidFill>
                    <a:srgbClr val="FFFFFF"/>
                  </a:solidFill>
                  <a:latin typeface="+mj-ea"/>
                  <a:ea typeface="+mj-ea"/>
                </a:rPr>
                <a:t>[Figure 1. Training Reward Curves of PPO (Blue) vs. SAC (Orange)]</a:t>
              </a:r>
              <a:endParaRPr lang="en-US" sz="1200" b="0" i="0" u="none" strike="noStrike" spc="100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91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5.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Experimental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Results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Analysis</a:t>
            </a:r>
          </a:p>
          <a:p>
            <a:pPr>
              <a:lnSpc>
                <a:spcPct val="97940"/>
              </a:lnSpc>
            </a:pP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5.2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Comparative Analysis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graphicFrame>
        <p:nvGraphicFramePr>
          <p:cNvPr id="26" name="표 26">
            <a:extLst>
              <a:ext uri="{FF2B5EF4-FFF2-40B4-BE49-F238E27FC236}">
                <a16:creationId xmlns:a16="http://schemas.microsoft.com/office/drawing/2014/main" id="{4E17D642-DFE9-074C-AF2B-8FE931123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73517"/>
              </p:ext>
            </p:extLst>
          </p:nvPr>
        </p:nvGraphicFramePr>
        <p:xfrm>
          <a:off x="6273798" y="1398594"/>
          <a:ext cx="5537202" cy="4593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2">
                  <a:extLst>
                    <a:ext uri="{9D8B030D-6E8A-4147-A177-3AD203B41FA5}">
                      <a16:colId xmlns:a16="http://schemas.microsoft.com/office/drawing/2014/main" val="1426229566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364176811"/>
                    </a:ext>
                  </a:extLst>
                </a:gridCol>
              </a:tblGrid>
              <a:tr h="1504393">
                <a:tc>
                  <a:txBody>
                    <a:bodyPr/>
                    <a:lstStyle/>
                    <a:p>
                      <a:pPr algn="ctr" latinLnBrk="1"/>
                      <a:r>
                        <a:rPr lang="da-DK" altLang="ko-KR" sz="1600" dirty="0" err="1"/>
                        <a:t>Convergence</a:t>
                      </a:r>
                      <a:r>
                        <a:rPr lang="da-DK" altLang="ko-KR" sz="1600" dirty="0"/>
                        <a:t> </a:t>
                      </a:r>
                      <a:r>
                        <a:rPr lang="da-DK" altLang="ko-KR" sz="1600" dirty="0" err="1"/>
                        <a:t>Stability</a:t>
                      </a:r>
                      <a:r>
                        <a:rPr lang="da-DK" altLang="ko-KR" sz="1600" dirty="0"/>
                        <a:t> </a:t>
                      </a:r>
                    </a:p>
                    <a:p>
                      <a:pPr algn="ctr" latinLnBrk="1"/>
                      <a:r>
                        <a:rPr lang="da-DK" altLang="ko-KR" sz="1600" dirty="0"/>
                        <a:t>(</a:t>
                      </a:r>
                      <a:r>
                        <a:rPr lang="ko-KR" altLang="en-US" sz="1600" dirty="0"/>
                        <a:t>수렴 안정성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altLang="ko-KR" sz="1400" b="1" dirty="0"/>
                        <a:t>- PPO:</a:t>
                      </a:r>
                      <a:r>
                        <a:rPr lang="da-DK" altLang="ko-KR" sz="1400" dirty="0"/>
                        <a:t> </a:t>
                      </a:r>
                      <a:r>
                        <a:rPr lang="ko-KR" altLang="en-US" sz="1400" dirty="0"/>
                        <a:t>학습 초기부터 보상이 선형적으로 </a:t>
                      </a:r>
                      <a:r>
                        <a:rPr lang="ko-KR" altLang="en-US" sz="1400" dirty="0" err="1"/>
                        <a:t>우상향하며</a:t>
                      </a:r>
                      <a:r>
                        <a:rPr lang="ko-KR" altLang="en-US" sz="1400" dirty="0"/>
                        <a:t> 매우 안정적인 학습 패턴</a:t>
                      </a:r>
                      <a:r>
                        <a:rPr lang="en-US" altLang="ko-KR" sz="1400" dirty="0"/>
                        <a:t>(</a:t>
                      </a:r>
                      <a:r>
                        <a:rPr lang="da-DK" altLang="ko-KR" sz="1400" dirty="0"/>
                        <a:t>Stable Learning </a:t>
                      </a:r>
                      <a:r>
                        <a:rPr lang="da-DK" altLang="ko-KR" sz="1400" dirty="0" err="1"/>
                        <a:t>Curve</a:t>
                      </a:r>
                      <a:r>
                        <a:rPr lang="da-DK" altLang="ko-KR" sz="1400" dirty="0"/>
                        <a:t>) </a:t>
                      </a:r>
                      <a:r>
                        <a:rPr lang="ko-KR" altLang="en-US" sz="1400" dirty="0"/>
                        <a:t>을 보임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큰 변동성</a:t>
                      </a:r>
                      <a:r>
                        <a:rPr lang="en-US" altLang="ko-KR" sz="1400" dirty="0"/>
                        <a:t>(</a:t>
                      </a:r>
                      <a:r>
                        <a:rPr lang="da-DK" altLang="ko-KR" sz="1400" dirty="0" err="1"/>
                        <a:t>Variance</a:t>
                      </a:r>
                      <a:r>
                        <a:rPr lang="da-DK" altLang="ko-KR" sz="1400" dirty="0"/>
                        <a:t>) </a:t>
                      </a:r>
                      <a:r>
                        <a:rPr lang="ko-KR" altLang="en-US" sz="1400" dirty="0"/>
                        <a:t>없이 꾸준히 목표 성능에 도달함</a:t>
                      </a:r>
                      <a:endParaRPr lang="en-US" altLang="ko-KR" sz="1400" dirty="0"/>
                    </a:p>
                    <a:p>
                      <a:r>
                        <a:rPr lang="da-DK" altLang="ko-KR" sz="1400" b="1" dirty="0"/>
                        <a:t>- SAC:</a:t>
                      </a:r>
                      <a:r>
                        <a:rPr lang="da-DK" altLang="ko-KR" sz="1400" dirty="0"/>
                        <a:t> </a:t>
                      </a:r>
                      <a:r>
                        <a:rPr lang="ko-KR" altLang="en-US" sz="1400" dirty="0"/>
                        <a:t>초기 단계</a:t>
                      </a:r>
                      <a:r>
                        <a:rPr lang="en-US" altLang="ko-KR" sz="1400" dirty="0"/>
                        <a:t>(0~20</a:t>
                      </a:r>
                      <a:r>
                        <a:rPr lang="da-DK" altLang="ko-KR" sz="1400" dirty="0"/>
                        <a:t>k steps)</a:t>
                      </a:r>
                      <a:r>
                        <a:rPr lang="ko-KR" altLang="en-US" sz="1400" dirty="0"/>
                        <a:t>에서는 높은 엔트로피로 인한 </a:t>
                      </a:r>
                      <a:r>
                        <a:rPr lang="ko-KR" altLang="en-US" sz="1400" b="1" dirty="0"/>
                        <a:t>탐색</a:t>
                      </a:r>
                      <a:r>
                        <a:rPr lang="en-US" altLang="ko-KR" sz="1400" b="1" dirty="0"/>
                        <a:t>(</a:t>
                      </a:r>
                      <a:r>
                        <a:rPr lang="da-DK" altLang="ko-KR" sz="1400" b="1" dirty="0"/>
                        <a:t>Exploration)</a:t>
                      </a:r>
                      <a:r>
                        <a:rPr lang="da-DK" altLang="ko-KR" sz="1400" dirty="0"/>
                        <a:t> </a:t>
                      </a:r>
                      <a:r>
                        <a:rPr lang="ko-KR" altLang="en-US" sz="1400" dirty="0"/>
                        <a:t>때문에 보상의 </a:t>
                      </a:r>
                      <a:r>
                        <a:rPr lang="ko-KR" altLang="en-US" sz="1400" dirty="0" err="1"/>
                        <a:t>진동폭이</a:t>
                      </a:r>
                      <a:r>
                        <a:rPr lang="ko-KR" altLang="en-US" sz="1400" dirty="0"/>
                        <a:t> 큼</a:t>
                      </a:r>
                      <a:endParaRPr lang="en-US" alt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882862"/>
                  </a:ext>
                </a:extLst>
              </a:tr>
              <a:tr h="150439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Sample </a:t>
                      </a:r>
                      <a:r>
                        <a:rPr lang="da-DK" altLang="ko-K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Efficiency</a:t>
                      </a:r>
                      <a:endParaRPr lang="da-DK" altLang="ko-KR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da-DK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샘플 효율성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 SAC: </a:t>
                      </a:r>
                      <a:r>
                        <a:rPr lang="ko-KR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일정 수준의 탐색 이후</a:t>
                      </a:r>
                      <a:r>
                        <a:rPr lang="en-US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da-DK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 step </a:t>
                      </a:r>
                      <a:r>
                        <a:rPr lang="ko-KR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시점부터 성능이 급격히 향상됨</a:t>
                      </a:r>
                      <a:r>
                        <a:rPr lang="en-US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Steep</a:t>
                      </a:r>
                      <a:r>
                        <a:rPr lang="da-DK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altLang="ko-K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Increase</a:t>
                      </a:r>
                      <a:r>
                        <a:rPr lang="da-DK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r>
                        <a:rPr lang="ko-KR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최종적으로 </a:t>
                      </a:r>
                      <a:r>
                        <a:rPr lang="da-DK" altLang="ko-K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r>
                        <a:rPr lang="ko-KR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보다 적은 데이터로도 유사하거나 더 높은 보상에 도달하는 경향을 보임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428284"/>
                  </a:ext>
                </a:extLst>
              </a:tr>
              <a:tr h="150439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da-DK" altLang="ko-KR" sz="1600" b="1" kern="1200" dirty="0" err="1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  <a:endParaRPr lang="ko-KR" altLang="en-US" sz="1600" b="1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안정적인 운용이 중요하다면 </a:t>
                      </a:r>
                      <a:r>
                        <a:rPr lang="da-DK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가 적합하지만</a:t>
                      </a:r>
                      <a:r>
                        <a:rPr lang="en-US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학습 속도</a:t>
                      </a:r>
                      <a:r>
                        <a:rPr lang="en-US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데이터 효율</a:t>
                      </a:r>
                      <a:r>
                        <a:rPr lang="en-US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와 최적의 정책</a:t>
                      </a:r>
                      <a:r>
                        <a:rPr lang="en-US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a-DK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Global Optima) 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탐색이 목표라면 </a:t>
                      </a:r>
                      <a:r>
                        <a:rPr lang="da-DK" altLang="ko-KR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SAC</a:t>
                      </a:r>
                      <a:r>
                        <a:rPr lang="ko-KR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가 더 유리함을 확인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7637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394E905-F104-5043-9828-06DB676389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8" y="1512271"/>
            <a:ext cx="5438816" cy="451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6.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Conclusion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Discussion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6.1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da-DK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Summary of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Findings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sp>
        <p:nvSpPr>
          <p:cNvPr id="19" name="TextBox 6">
            <a:extLst>
              <a:ext uri="{FF2B5EF4-FFF2-40B4-BE49-F238E27FC236}">
                <a16:creationId xmlns:a16="http://schemas.microsoft.com/office/drawing/2014/main" id="{ED6BC0A0-C47B-8D4B-AC92-060E204F1FBB}"/>
              </a:ext>
            </a:extLst>
          </p:cNvPr>
          <p:cNvSpPr txBox="1"/>
          <p:nvPr/>
        </p:nvSpPr>
        <p:spPr>
          <a:xfrm>
            <a:off x="697425" y="1723023"/>
            <a:ext cx="6871378" cy="437297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1. Performance : 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PPO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와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SAC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두 알고리즘 모두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LunarLander-v3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환경의 연속 제어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(Continuous Control)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문제를 성공적으로 해결함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(Average Reward &gt; 200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달성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endParaRPr lang="en-US" altLang="ko-KR" spc="1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endParaRPr lang="en-US" altLang="ko-KR" spc="1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04580"/>
              </a:lnSpc>
            </a:pP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2. Algorithm Comparison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Stability (PPO): PPO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는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On-policy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특성상 학습의 분산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(Variance)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이 낮아 매우 안정적인 수렴 곡선을 보임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위험 회피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(Risk-averse)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가 필요한 실제 시스템 제어에 더 적합할 것으로 판단됨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Efficiency (SAC): SAC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는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Off-policy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및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Entropy Regularization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을 통해 초기 탐색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(Exploration)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범위가 넓었으며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수렴 이후에는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PPO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대비 더 높은 최종 보상에 도달하는 경향을 보임 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(Sample Efficiency </a:t>
            </a:r>
            <a:r>
              <a:rPr lang="ko-KR" altLang="en-US" spc="100" dirty="0">
                <a:solidFill>
                  <a:schemeClr val="bg1"/>
                </a:solidFill>
                <a:latin typeface="+mj-ea"/>
                <a:ea typeface="+mj-ea"/>
              </a:rPr>
              <a:t>우수</a:t>
            </a:r>
            <a:r>
              <a:rPr lang="en-US" altLang="ko-KR" spc="100" dirty="0">
                <a:solidFill>
                  <a:schemeClr val="bg1"/>
                </a:solidFill>
                <a:latin typeface="+mj-ea"/>
                <a:ea typeface="+mj-ea"/>
              </a:rPr>
              <a:t>).</a:t>
            </a:r>
          </a:p>
          <a:p>
            <a:pPr>
              <a:lnSpc>
                <a:spcPct val="104580"/>
              </a:lnSpc>
            </a:pPr>
            <a:endParaRPr lang="en-US" altLang="ko-KR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150F74C-89EB-9E4D-808B-8073C5689F1A}"/>
              </a:ext>
            </a:extLst>
          </p:cNvPr>
          <p:cNvSpPr/>
          <p:nvPr/>
        </p:nvSpPr>
        <p:spPr>
          <a:xfrm>
            <a:off x="346112" y="1361949"/>
            <a:ext cx="7443146" cy="495789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F7CA6F-199E-8249-A1D9-4D699C09FD6B}"/>
              </a:ext>
            </a:extLst>
          </p:cNvPr>
          <p:cNvGrpSpPr/>
          <p:nvPr/>
        </p:nvGrpSpPr>
        <p:grpSpPr>
          <a:xfrm>
            <a:off x="8106504" y="1823223"/>
            <a:ext cx="4841063" cy="4261251"/>
            <a:chOff x="7907789" y="1293500"/>
            <a:chExt cx="4841063" cy="48479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ED91A39-6329-C249-A6D3-1362F4368558}"/>
                </a:ext>
              </a:extLst>
            </p:cNvPr>
            <p:cNvSpPr txBox="1"/>
            <p:nvPr/>
          </p:nvSpPr>
          <p:spPr>
            <a:xfrm>
              <a:off x="7907789" y="1293500"/>
              <a:ext cx="39032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7200" b="1" dirty="0">
                  <a:solidFill>
                    <a:schemeClr val="bg1"/>
                  </a:solidFill>
                  <a:latin typeface="+mj-ea"/>
                  <a:ea typeface="+mj-ea"/>
                </a:rPr>
                <a:t>PPO</a:t>
              </a:r>
              <a:endParaRPr kumimoji="1" lang="ko-KR" altLang="en-US" sz="7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BF7A33-0FFE-D34F-A5DA-52A65D7FEE1B}"/>
                </a:ext>
              </a:extLst>
            </p:cNvPr>
            <p:cNvSpPr txBox="1"/>
            <p:nvPr/>
          </p:nvSpPr>
          <p:spPr>
            <a:xfrm>
              <a:off x="8005669" y="4941100"/>
              <a:ext cx="39032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7200" b="1" dirty="0">
                  <a:solidFill>
                    <a:schemeClr val="bg1"/>
                  </a:solidFill>
                  <a:latin typeface="+mj-ea"/>
                  <a:ea typeface="+mj-ea"/>
                </a:rPr>
                <a:t>SAC</a:t>
              </a:r>
              <a:endParaRPr kumimoji="1" lang="ko-KR" altLang="en-US" sz="7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6A2B3E-A284-034C-81D0-48EE4017CEA3}"/>
                </a:ext>
              </a:extLst>
            </p:cNvPr>
            <p:cNvSpPr txBox="1"/>
            <p:nvPr/>
          </p:nvSpPr>
          <p:spPr>
            <a:xfrm>
              <a:off x="8845641" y="2984710"/>
              <a:ext cx="39032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7200" b="1" dirty="0">
                  <a:solidFill>
                    <a:schemeClr val="bg1"/>
                  </a:solidFill>
                  <a:latin typeface="+mj-ea"/>
                  <a:ea typeface="+mj-ea"/>
                </a:rPr>
                <a:t>vs</a:t>
              </a:r>
              <a:endParaRPr kumimoji="1" lang="ko-KR" altLang="en-US" sz="7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72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8600" y="228600"/>
            <a:ext cx="11582400" cy="4273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7940"/>
              </a:lnSpc>
            </a:pPr>
            <a:r>
              <a:rPr lang="en-US" altLang="ko-KR" sz="2800" b="1" dirty="0">
                <a:solidFill>
                  <a:srgbClr val="FFFFFF"/>
                </a:solidFill>
                <a:latin typeface="+mn-ea"/>
              </a:rPr>
              <a:t>6.</a:t>
            </a:r>
            <a:r>
              <a:rPr lang="ko-KR" altLang="en-US" sz="28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Conclusion</a:t>
            </a:r>
            <a:r>
              <a:rPr lang="da-DK" altLang="ko-KR" sz="2800" b="1" dirty="0">
                <a:solidFill>
                  <a:srgbClr val="FFFFFF"/>
                </a:solidFill>
                <a:latin typeface="+mn-ea"/>
              </a:rPr>
              <a:t> &amp; </a:t>
            </a:r>
            <a:r>
              <a:rPr lang="da-DK" altLang="ko-KR" sz="2800" b="1" dirty="0" err="1">
                <a:solidFill>
                  <a:srgbClr val="FFFFFF"/>
                </a:solidFill>
                <a:latin typeface="+mn-ea"/>
              </a:rPr>
              <a:t>Discussion</a:t>
            </a:r>
            <a:endParaRPr lang="en-US" sz="28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600" y="762000"/>
            <a:ext cx="10363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6.2</a:t>
            </a:r>
            <a:r>
              <a:rPr lang="ko-KR" altLang="en-US" sz="2000" spc="1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da-DK" altLang="ko-KR" sz="2000" spc="100" dirty="0" err="1">
                <a:solidFill>
                  <a:srgbClr val="FFFFFF"/>
                </a:solidFill>
                <a:latin typeface="+mj-ea"/>
                <a:ea typeface="+mj-ea"/>
              </a:rPr>
              <a:t>Limitations</a:t>
            </a:r>
            <a:r>
              <a:rPr lang="da-DK" altLang="ko-KR" sz="2000" spc="100" dirty="0">
                <a:solidFill>
                  <a:srgbClr val="FFFFFF"/>
                </a:solidFill>
                <a:latin typeface="+mj-ea"/>
                <a:ea typeface="+mj-ea"/>
              </a:rPr>
              <a:t> &amp; Future Work</a:t>
            </a:r>
            <a:endParaRPr lang="en-US" sz="2000" b="0" i="0" u="none" strike="noStrike" spc="10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sp>
        <p:nvSpPr>
          <p:cNvPr id="19" name="TextBox 6">
            <a:extLst>
              <a:ext uri="{FF2B5EF4-FFF2-40B4-BE49-F238E27FC236}">
                <a16:creationId xmlns:a16="http://schemas.microsoft.com/office/drawing/2014/main" id="{ED6BC0A0-C47B-8D4B-AC92-060E204F1FBB}"/>
              </a:ext>
            </a:extLst>
          </p:cNvPr>
          <p:cNvSpPr txBox="1"/>
          <p:nvPr/>
        </p:nvSpPr>
        <p:spPr>
          <a:xfrm>
            <a:off x="762000" y="2367960"/>
            <a:ext cx="10108476" cy="312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04580"/>
              </a:lnSpc>
            </a:pP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en-US" altLang="ko-KR" b="1" spc="100" dirty="0">
                <a:solidFill>
                  <a:srgbClr val="FFC000"/>
                </a:solidFill>
                <a:latin typeface="+mj-ea"/>
                <a:ea typeface="+mj-ea"/>
              </a:rPr>
              <a:t>Robustness Analysis</a:t>
            </a:r>
            <a:endParaRPr lang="en-US" altLang="ko-KR" b="1" spc="1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현재 실험은 고정된 중력과 난기류가 없는 이상적인 환경에서 수행됨</a:t>
            </a: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향후 바람</a:t>
            </a: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(Wind)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의 세기를 무작위로 변경하거나 엔진 고장과 같은 노이즈</a:t>
            </a: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(Noise)</a:t>
            </a:r>
            <a:r>
              <a:rPr lang="ko-KR" altLang="en-US" b="1" spc="100" dirty="0" err="1">
                <a:solidFill>
                  <a:schemeClr val="bg1"/>
                </a:solidFill>
                <a:latin typeface="+mj-ea"/>
                <a:ea typeface="+mj-ea"/>
              </a:rPr>
              <a:t>를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 추가하여 모델의 </a:t>
            </a:r>
            <a:r>
              <a:rPr lang="ko-KR" altLang="en-US" b="1" spc="100" dirty="0" err="1">
                <a:solidFill>
                  <a:schemeClr val="bg1"/>
                </a:solidFill>
                <a:latin typeface="+mj-ea"/>
                <a:ea typeface="+mj-ea"/>
              </a:rPr>
              <a:t>강건성을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 테스트할 필요가 있음</a:t>
            </a:r>
            <a:endParaRPr lang="en-US" altLang="ko-KR" b="1" spc="1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04580"/>
              </a:lnSpc>
              <a:buFontTx/>
              <a:buChar char="-"/>
            </a:pPr>
            <a:endParaRPr lang="en-US" altLang="ko-KR" b="1" spc="1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04580"/>
              </a:lnSpc>
            </a:pP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2. </a:t>
            </a:r>
            <a:r>
              <a:rPr lang="en-US" altLang="ko-KR" b="1" spc="100" dirty="0">
                <a:solidFill>
                  <a:srgbClr val="00B050"/>
                </a:solidFill>
                <a:latin typeface="+mj-ea"/>
                <a:ea typeface="+mj-ea"/>
              </a:rPr>
              <a:t>Hyperparameter Sensitivity</a:t>
            </a:r>
          </a:p>
          <a:p>
            <a:pPr marL="342900" indent="-342900">
              <a:lnSpc>
                <a:spcPct val="104580"/>
              </a:lnSpc>
              <a:buFontTx/>
              <a:buChar char="-"/>
            </a:pPr>
            <a:r>
              <a:rPr lang="da-DK" altLang="ko-KR" b="1" spc="100" dirty="0">
                <a:solidFill>
                  <a:schemeClr val="bg1"/>
                </a:solidFill>
                <a:latin typeface="+mj-ea"/>
                <a:ea typeface="+mj-ea"/>
              </a:rPr>
              <a:t>PPO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의 </a:t>
            </a:r>
            <a:r>
              <a:rPr lang="da-DK" altLang="ko-KR" b="1" spc="100" dirty="0" err="1">
                <a:solidFill>
                  <a:schemeClr val="bg1"/>
                </a:solidFill>
                <a:latin typeface="+mj-ea"/>
                <a:ea typeface="+mj-ea"/>
              </a:rPr>
              <a:t>clip_range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나 </a:t>
            </a:r>
            <a:r>
              <a:rPr lang="da-DK" altLang="ko-KR" b="1" spc="100" dirty="0">
                <a:solidFill>
                  <a:schemeClr val="bg1"/>
                </a:solidFill>
                <a:latin typeface="+mj-ea"/>
                <a:ea typeface="+mj-ea"/>
              </a:rPr>
              <a:t>SAC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의 </a:t>
            </a:r>
            <a:r>
              <a:rPr lang="da-DK" altLang="ko-KR" b="1" spc="100" dirty="0" err="1">
                <a:solidFill>
                  <a:schemeClr val="bg1"/>
                </a:solidFill>
                <a:latin typeface="+mj-ea"/>
                <a:ea typeface="+mj-ea"/>
              </a:rPr>
              <a:t>entropy_coefficient</a:t>
            </a:r>
            <a:r>
              <a:rPr lang="da-DK" altLang="ko-KR" b="1" spc="1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등 핵심 </a:t>
            </a:r>
            <a:r>
              <a:rPr lang="ko-KR" altLang="en-US" b="1" spc="100" dirty="0" err="1">
                <a:solidFill>
                  <a:schemeClr val="bg1"/>
                </a:solidFill>
                <a:latin typeface="+mj-ea"/>
                <a:ea typeface="+mj-ea"/>
              </a:rPr>
              <a:t>하이퍼파라미터에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 대한 민감도 분석</a:t>
            </a:r>
            <a:r>
              <a:rPr lang="en-US" altLang="ko-KR" b="1" spc="1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da-DK" altLang="ko-KR" b="1" spc="100" dirty="0" err="1">
                <a:solidFill>
                  <a:schemeClr val="bg1"/>
                </a:solidFill>
                <a:latin typeface="+mj-ea"/>
                <a:ea typeface="+mj-ea"/>
              </a:rPr>
              <a:t>Sensitivity</a:t>
            </a:r>
            <a:r>
              <a:rPr lang="da-DK" altLang="ko-KR" b="1" spc="100" dirty="0">
                <a:solidFill>
                  <a:schemeClr val="bg1"/>
                </a:solidFill>
                <a:latin typeface="+mj-ea"/>
                <a:ea typeface="+mj-ea"/>
              </a:rPr>
              <a:t> Analysis)</a:t>
            </a:r>
            <a:r>
              <a:rPr lang="ko-KR" altLang="en-US" b="1" spc="100" dirty="0">
                <a:solidFill>
                  <a:schemeClr val="bg1"/>
                </a:solidFill>
                <a:latin typeface="+mj-ea"/>
                <a:ea typeface="+mj-ea"/>
              </a:rPr>
              <a:t>을 추가하여 최적의 설정을 찾는 후속 연구가 요구됨</a:t>
            </a:r>
            <a:endParaRPr lang="en-US" altLang="ko-KR" b="1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150F74C-89EB-9E4D-808B-8073C5689F1A}"/>
              </a:ext>
            </a:extLst>
          </p:cNvPr>
          <p:cNvSpPr/>
          <p:nvPr/>
        </p:nvSpPr>
        <p:spPr>
          <a:xfrm>
            <a:off x="346112" y="1361949"/>
            <a:ext cx="10740874" cy="495789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340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rcRect b="32520"/>
          <a:stretch/>
        </p:blipFill>
        <p:spPr>
          <a:xfrm>
            <a:off x="14689" y="6258106"/>
            <a:ext cx="889000" cy="59989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D2B58C8-8B58-2A4F-89A5-28949257A22B}"/>
              </a:ext>
            </a:extLst>
          </p:cNvPr>
          <p:cNvGrpSpPr/>
          <p:nvPr/>
        </p:nvGrpSpPr>
        <p:grpSpPr>
          <a:xfrm rot="1358366">
            <a:off x="11235276" y="5263466"/>
            <a:ext cx="736018" cy="1511095"/>
            <a:chOff x="8838954" y="4247920"/>
            <a:chExt cx="1230861" cy="2282653"/>
          </a:xfrm>
        </p:grpSpPr>
        <p:sp>
          <p:nvSpPr>
            <p:cNvPr id="10" name="사다리꼴[T] 9">
              <a:extLst>
                <a:ext uri="{FF2B5EF4-FFF2-40B4-BE49-F238E27FC236}">
                  <a16:creationId xmlns:a16="http://schemas.microsoft.com/office/drawing/2014/main" id="{55CEF079-B8C0-E949-BF5D-EAA2F548FB6D}"/>
                </a:ext>
              </a:extLst>
            </p:cNvPr>
            <p:cNvSpPr/>
            <p:nvPr/>
          </p:nvSpPr>
          <p:spPr>
            <a:xfrm>
              <a:off x="9049744" y="4247920"/>
              <a:ext cx="823511" cy="552680"/>
            </a:xfrm>
            <a:prstGeom prst="trapezoid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6893BE-0DBD-BE41-8A8D-8BD4588DD957}"/>
                </a:ext>
              </a:extLst>
            </p:cNvPr>
            <p:cNvSpPr/>
            <p:nvPr/>
          </p:nvSpPr>
          <p:spPr>
            <a:xfrm rot="20463042">
              <a:off x="9993615" y="4633739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307436-4C25-5847-8EC7-3505038F21EB}"/>
                </a:ext>
              </a:extLst>
            </p:cNvPr>
            <p:cNvSpPr/>
            <p:nvPr/>
          </p:nvSpPr>
          <p:spPr>
            <a:xfrm rot="1376338">
              <a:off x="8838954" y="4647921"/>
              <a:ext cx="76200" cy="466840"/>
            </a:xfrm>
            <a:prstGeom prst="rect">
              <a:avLst/>
            </a:prstGeom>
            <a:solidFill>
              <a:srgbClr val="8067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9A32FC2-1F24-B84F-A8AD-179E29328552}"/>
                </a:ext>
              </a:extLst>
            </p:cNvPr>
            <p:cNvSpPr/>
            <p:nvPr/>
          </p:nvSpPr>
          <p:spPr>
            <a:xfrm>
              <a:off x="9321801" y="5100301"/>
              <a:ext cx="50888" cy="49319"/>
            </a:xfrm>
            <a:prstGeom prst="ellipse">
              <a:avLst/>
            </a:prstGeom>
            <a:solidFill>
              <a:srgbClr val="F27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7CA9E7F-65A6-6545-8CAE-620A41276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236816" y="5483673"/>
              <a:ext cx="58086" cy="726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536D5E7-E701-C244-93B6-7F0847E91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450298" y="5788473"/>
              <a:ext cx="58086" cy="7260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E5A65C9-D4FC-594B-BDA4-6EAF9817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602698" y="6026120"/>
              <a:ext cx="58086" cy="726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0C16915-450D-6640-A6C8-3D7551A3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770216" y="6245673"/>
              <a:ext cx="58086" cy="7260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1C9E958-A2A1-C146-B074-CF383A5A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068089" flipH="1">
              <a:off x="9937734" y="6465226"/>
              <a:ext cx="58086" cy="72607"/>
            </a:xfrm>
            <a:prstGeom prst="rect">
              <a:avLst/>
            </a:prstGeom>
          </p:spPr>
        </p:pic>
      </p:grpSp>
      <p:sp>
        <p:nvSpPr>
          <p:cNvPr id="21" name="TextBox 5">
            <a:extLst>
              <a:ext uri="{FF2B5EF4-FFF2-40B4-BE49-F238E27FC236}">
                <a16:creationId xmlns:a16="http://schemas.microsoft.com/office/drawing/2014/main" id="{825715E8-93FF-DC47-BF02-04F93F53AE0E}"/>
              </a:ext>
            </a:extLst>
          </p:cNvPr>
          <p:cNvSpPr txBox="1"/>
          <p:nvPr/>
        </p:nvSpPr>
        <p:spPr>
          <a:xfrm>
            <a:off x="1739900" y="2857500"/>
            <a:ext cx="87249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7940"/>
              </a:lnSpc>
            </a:pPr>
            <a:r>
              <a:rPr lang="en-US" sz="4000" b="1" dirty="0">
                <a:solidFill>
                  <a:srgbClr val="FFFFFF"/>
                </a:solidFill>
                <a:latin typeface="+mj-ea"/>
                <a:ea typeface="+mj-ea"/>
              </a:rPr>
              <a:t>The End</a:t>
            </a:r>
          </a:p>
          <a:p>
            <a:pPr lvl="0" algn="ctr">
              <a:lnSpc>
                <a:spcPct val="97940"/>
              </a:lnSpc>
            </a:pPr>
            <a:r>
              <a:rPr lang="en-US" sz="4000" b="1" dirty="0">
                <a:solidFill>
                  <a:srgbClr val="FFFFFF"/>
                </a:solidFill>
                <a:latin typeface="+mj-ea"/>
                <a:ea typeface="+mj-e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1208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1000</Words>
  <Application>Microsoft Macintosh PowerPoint</Application>
  <PresentationFormat>와이드스크린</PresentationFormat>
  <Paragraphs>129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Calibri</vt:lpstr>
      <vt:lpstr>Cambria Math</vt:lpstr>
      <vt:lpstr>Arial</vt:lpstr>
      <vt:lpstr>Malgun 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Microsoft Office User</cp:lastModifiedBy>
  <cp:revision>8</cp:revision>
  <dcterms:created xsi:type="dcterms:W3CDTF">2006-08-16T00:00:00Z</dcterms:created>
  <dcterms:modified xsi:type="dcterms:W3CDTF">2025-12-06T05:04:31Z</dcterms:modified>
</cp:coreProperties>
</file>